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media1.mp4" ContentType="video/unknown"/>
  <Override PartName="/ppt/media/media2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doi.org/10.1073/pnas.122653799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stelle McCool and Francesco Di Lauro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Estelle McCool and Francesco Di Lauro</a:t>
            </a:r>
          </a:p>
        </p:txBody>
      </p:sp>
      <p:sp>
        <p:nvSpPr>
          <p:cNvPr id="172" name="Networks and epidemics"/>
          <p:cNvSpPr txBox="1"/>
          <p:nvPr>
            <p:ph type="ctrTitle"/>
          </p:nvPr>
        </p:nvSpPr>
        <p:spPr>
          <a:xfrm>
            <a:off x="1206498" y="689295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Networks and epidemics</a:t>
            </a:r>
          </a:p>
        </p:txBody>
      </p:sp>
      <p:sp>
        <p:nvSpPr>
          <p:cNvPr id="173" name="CDT 14/01/2026"/>
          <p:cNvSpPr txBox="1"/>
          <p:nvPr>
            <p:ph type="subTitle" sz="quarter" idx="1"/>
          </p:nvPr>
        </p:nvSpPr>
        <p:spPr>
          <a:xfrm>
            <a:off x="1206500" y="7483286"/>
            <a:ext cx="21971000" cy="1905001"/>
          </a:xfrm>
          <a:prstGeom prst="rect">
            <a:avLst/>
          </a:prstGeom>
        </p:spPr>
        <p:txBody>
          <a:bodyPr/>
          <a:lstStyle/>
          <a:p>
            <a:pPr lvl="1"/>
            <a:r>
              <a:t>CDT 14/01/2026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Network models"/>
          <p:cNvSpPr txBox="1"/>
          <p:nvPr>
            <p:ph type="ctrTitle"/>
          </p:nvPr>
        </p:nvSpPr>
        <p:spPr>
          <a:xfrm>
            <a:off x="5368034" y="2574991"/>
            <a:ext cx="11680024" cy="4648201"/>
          </a:xfrm>
          <a:prstGeom prst="rect">
            <a:avLst/>
          </a:prstGeom>
        </p:spPr>
        <p:txBody>
          <a:bodyPr/>
          <a:lstStyle/>
          <a:p>
            <a:pPr/>
            <a:r>
              <a:t>Network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minder: definition of networ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Reminder: definition of networks</a:t>
            </a:r>
          </a:p>
        </p:txBody>
      </p:sp>
      <p:sp>
        <p:nvSpPr>
          <p:cNvPr id="178" name="A network is simply a pair of sets:  {nodes}, {links}…"/>
          <p:cNvSpPr txBox="1"/>
          <p:nvPr>
            <p:ph type="body" idx="1"/>
          </p:nvPr>
        </p:nvSpPr>
        <p:spPr>
          <a:xfrm>
            <a:off x="1448143" y="3303899"/>
            <a:ext cx="21971001" cy="8256011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t>A network is simply a pair of sets:  </a:t>
            </a:r>
            <a:r>
              <a:rPr b="1"/>
              <a:t>{nodes}</a:t>
            </a:r>
            <a:r>
              <a:t>, </a:t>
            </a:r>
            <a:r>
              <a:rPr b="1"/>
              <a:t>{links}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It is used to represent “interactions” (links) between actors (nodes)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Edges can represent contacts, infections, relationships…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It can be represented with a matrix </a:t>
            </a:r>
            <a14:m>
              <m:oMath>
                <m:sSub>
                  <m:e>
                    <m:r>
                      <m:rPr>
                        <m:scr m:val="script"/>
                      </m:rP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sub>
                </m:sSub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if node </a:t>
            </a:r>
            <a14:m>
              <m:oMath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</m:oMath>
            </a14:m>
            <a:r>
              <a:t> is in contact with node </a:t>
            </a:r>
            <a14:m>
              <m:oMath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Example networks: Zachary Karate Club"/>
          <p:cNvSpPr txBox="1"/>
          <p:nvPr>
            <p:ph type="title"/>
          </p:nvPr>
        </p:nvSpPr>
        <p:spPr>
          <a:xfrm>
            <a:off x="1206500" y="20079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Example networks: Zachary Karate Club</a:t>
            </a:r>
          </a:p>
        </p:txBody>
      </p:sp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1000" y="2866761"/>
            <a:ext cx="16909235" cy="9308886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10.1073/pnas.122653799"/>
          <p:cNvSpPr txBox="1"/>
          <p:nvPr/>
        </p:nvSpPr>
        <p:spPr>
          <a:xfrm>
            <a:off x="4592366" y="12820348"/>
            <a:ext cx="6104316" cy="3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640" u="sng">
                <a:solidFill>
                  <a:srgbClr val="1A4480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10.1073/pnas.122653799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xample: Sexual interac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Example: Sexual interactions</a:t>
            </a:r>
          </a:p>
        </p:txBody>
      </p:sp>
      <p:pic>
        <p:nvPicPr>
          <p:cNvPr id="18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0047" y="2803579"/>
            <a:ext cx="16722090" cy="9384847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https://www.jstor.org/stable/i40210700"/>
          <p:cNvSpPr txBox="1"/>
          <p:nvPr/>
        </p:nvSpPr>
        <p:spPr>
          <a:xfrm>
            <a:off x="2968938" y="12479341"/>
            <a:ext cx="1128253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https://www.jstor.org/stable/i40210700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Why network models are usefu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network models are useful</a:t>
            </a:r>
          </a:p>
        </p:txBody>
      </p:sp>
      <p:sp>
        <p:nvSpPr>
          <p:cNvPr id="189" name="Real data are often incomplete - sampling errors, censorin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Real data are often </a:t>
            </a:r>
            <a:r>
              <a:rPr b="1"/>
              <a:t>incomplete</a:t>
            </a:r>
            <a:r>
              <a:t> - sampling errors, censoring</a:t>
            </a:r>
          </a:p>
          <a:p>
            <a:pPr>
              <a:lnSpc>
                <a:spcPct val="150000"/>
              </a:lnSpc>
            </a:pPr>
            <a:r>
              <a:rPr b="1"/>
              <a:t>Finiteness</a:t>
            </a:r>
            <a:r>
              <a:t>: one realisation is not understanding the underlying process</a:t>
            </a:r>
          </a:p>
          <a:p>
            <a:pPr>
              <a:lnSpc>
                <a:spcPct val="150000"/>
              </a:lnSpc>
            </a:pPr>
            <a:r>
              <a:t>No </a:t>
            </a:r>
            <a:r>
              <a:rPr b="1"/>
              <a:t>counterfactuals</a:t>
            </a:r>
            <a:r>
              <a:t>: data alone does not answer what if scenarios</a:t>
            </a:r>
          </a:p>
          <a:p>
            <a:pPr>
              <a:lnSpc>
                <a:spcPct val="150000"/>
              </a:lnSpc>
            </a:pPr>
            <a:r>
              <a:t>Need to </a:t>
            </a:r>
            <a:r>
              <a:rPr b="1"/>
              <a:t>generalise </a:t>
            </a:r>
            <a:r>
              <a:t>beyond the observed data</a:t>
            </a:r>
          </a:p>
          <a:p>
            <a:pPr>
              <a:lnSpc>
                <a:spcPct val="150000"/>
              </a:lnSpc>
            </a:pPr>
            <a:r>
              <a:t>To understand how to link the structure with the outcome of a </a:t>
            </a:r>
            <a:r>
              <a:rPr b="1"/>
              <a:t>process</a:t>
            </a:r>
            <a:r>
              <a:t> on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enerative (axiomatic) mode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Generative (axiomatic) models</a:t>
            </a:r>
          </a:p>
        </p:txBody>
      </p:sp>
      <p:sp>
        <p:nvSpPr>
          <p:cNvPr id="192" name="E.g. Erdős–Rényi: between any pair of node there is a link with probability p…"/>
          <p:cNvSpPr txBox="1"/>
          <p:nvPr>
            <p:ph type="body" idx="1"/>
          </p:nvPr>
        </p:nvSpPr>
        <p:spPr>
          <a:xfrm>
            <a:off x="1206500" y="3286923"/>
            <a:ext cx="21971000" cy="9217593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t>E.g. Erdős–Rényi: between any pair of node there is a link with probability p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These models are often analytically tractable and depend on parameters that are directly linked to statistics - such as the average degree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Very useful for understanding the theory and the fundamental processes, e.g. “What structural features matter for transmission?” 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Often poor realism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E.g. Barabási–Albert: preferential attachment or “rich gets richer”…"/>
          <p:cNvSpPr txBox="1"/>
          <p:nvPr>
            <p:ph type="body" idx="1"/>
          </p:nvPr>
        </p:nvSpPr>
        <p:spPr>
          <a:xfrm>
            <a:off x="1206500" y="3298733"/>
            <a:ext cx="21971000" cy="9205783"/>
          </a:xfrm>
          <a:prstGeom prst="rect">
            <a:avLst/>
          </a:prstGeom>
        </p:spPr>
        <p:txBody>
          <a:bodyPr/>
          <a:lstStyle/>
          <a:p>
            <a:pPr/>
            <a:r>
              <a:t>E.g. Barabási–Albert: preferential attachment or “rich gets richer”</a:t>
            </a:r>
          </a:p>
          <a:p>
            <a:pPr/>
          </a:p>
          <a:p>
            <a:pPr/>
            <a:r>
              <a:t>Structural properties </a:t>
            </a:r>
            <a:r>
              <a:rPr b="1"/>
              <a:t>emerge</a:t>
            </a:r>
            <a:r>
              <a:t> as an outcome of a process that mimics reality</a:t>
            </a:r>
          </a:p>
          <a:p>
            <a:pPr/>
          </a:p>
          <a:p>
            <a:pPr/>
            <a:r>
              <a:t>Often used to explain more fundamental questions: “What behavioural or social mechanisms generate those features?”</a:t>
            </a:r>
          </a:p>
          <a:p>
            <a:pPr/>
          </a:p>
          <a:p>
            <a:pPr/>
            <a:r>
              <a:t>Less easy to analyse and parameters may not be directly linked to statistics</a:t>
            </a:r>
          </a:p>
        </p:txBody>
      </p:sp>
      <p:sp>
        <p:nvSpPr>
          <p:cNvPr id="195" name="Process-based mode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Process-based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Data for networks"/>
          <p:cNvSpPr txBox="1"/>
          <p:nvPr>
            <p:ph type="ctrTitle"/>
          </p:nvPr>
        </p:nvSpPr>
        <p:spPr>
          <a:xfrm>
            <a:off x="6430093" y="5231492"/>
            <a:ext cx="12848476" cy="1905001"/>
          </a:xfrm>
          <a:prstGeom prst="rect">
            <a:avLst/>
          </a:prstGeom>
        </p:spPr>
        <p:txBody>
          <a:bodyPr/>
          <a:lstStyle/>
          <a:p>
            <a:pPr/>
            <a:r>
              <a:t>Data for networks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pi-games"/>
          <p:cNvSpPr txBox="1"/>
          <p:nvPr>
            <p:ph type="title"/>
          </p:nvPr>
        </p:nvSpPr>
        <p:spPr>
          <a:xfrm>
            <a:off x="1206500" y="526888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spc="-145" sz="7300"/>
            </a:lvl1pPr>
          </a:lstStyle>
          <a:p>
            <a:pPr/>
            <a:r>
              <a:t>Epi-games</a:t>
            </a:r>
          </a:p>
        </p:txBody>
      </p:sp>
      <p:sp>
        <p:nvSpPr>
          <p:cNvPr id="200" name="Collect data…"/>
          <p:cNvSpPr txBox="1"/>
          <p:nvPr>
            <p:ph type="body" idx="1"/>
          </p:nvPr>
        </p:nvSpPr>
        <p:spPr>
          <a:xfrm>
            <a:off x="1206500" y="1769306"/>
            <a:ext cx="21971000" cy="11846550"/>
          </a:xfrm>
          <a:prstGeom prst="rect">
            <a:avLst/>
          </a:prstGeom>
        </p:spPr>
        <p:txBody>
          <a:bodyPr/>
          <a:lstStyle/>
          <a:p>
            <a:pPr marL="475487" indent="-475487" defTabSz="1901904">
              <a:spcBef>
                <a:spcPts val="3500"/>
              </a:spcBef>
              <a:defRPr b="1" sz="3041"/>
            </a:pPr>
            <a:r>
              <a:t>Collect data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Phones scan nearby devices via Bluetooth (BLE)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Each detection → (u,v,t)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Infections propagate along observed contacts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Process events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Threshold signal strength to infer close contact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Clean raw detections into contact events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Build temporal network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Nodes = participants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Edges = proximity contacts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Network evolves over time → G(t)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Aggregate &amp; analyze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Time-bin events (e.g. 5 min)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Produce static and temporal graphs</a:t>
            </a:r>
          </a:p>
        </p:txBody>
      </p:sp>
      <p:pic>
        <p:nvPicPr>
          <p:cNvPr id="201" name="network_growth_from_histories.mp4" descr="network_growth_from_histories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11309475" y="-92102"/>
            <a:ext cx="13716001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0" fill="hold"/>
                                        <p:tgtEl>
                                          <p:spTgt spid="2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201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0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1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In some cases, data are fully available: e.g. power-grid, spatial networks, controlled settings such as epigames…"/>
          <p:cNvSpPr txBox="1"/>
          <p:nvPr>
            <p:ph type="body" idx="1"/>
          </p:nvPr>
        </p:nvSpPr>
        <p:spPr>
          <a:xfrm>
            <a:off x="350818" y="2605144"/>
            <a:ext cx="23682364" cy="10480656"/>
          </a:xfrm>
          <a:prstGeom prst="rect">
            <a:avLst/>
          </a:prstGeom>
        </p:spPr>
        <p:txBody>
          <a:bodyPr/>
          <a:lstStyle/>
          <a:p>
            <a:pPr/>
            <a:r>
              <a:t>In some cases, data are fully available: e.g. power-grid, spatial networks, controlled settings such as epigames</a:t>
            </a:r>
          </a:p>
          <a:p>
            <a:pPr/>
          </a:p>
          <a:p>
            <a:pPr/>
            <a:r>
              <a:t>In real epidemics, we rarely observe the </a:t>
            </a:r>
            <a:r>
              <a:rPr b="1"/>
              <a:t>full contact network</a:t>
            </a:r>
            <a:r>
              <a:t>: </a:t>
            </a:r>
          </a:p>
          <a:p>
            <a:pPr lvl="1"/>
            <a:r>
              <a:t>Missing nodes (people not included in the data/unobserved)</a:t>
            </a:r>
          </a:p>
          <a:p>
            <a:pPr lvl="1"/>
            <a:r>
              <a:t>Missing edges (contacts that were not registered)</a:t>
            </a:r>
          </a:p>
          <a:p>
            <a:pPr lvl="1"/>
            <a:r>
              <a:t>Unknown timing of events </a:t>
            </a:r>
          </a:p>
          <a:p>
            <a:pPr lvl="1"/>
          </a:p>
          <a:p>
            <a:pPr/>
            <a:r>
              <a:t>Network models must extrapolate beyond incomplete, noisy, and biased data</a:t>
            </a:r>
          </a:p>
        </p:txBody>
      </p:sp>
      <p:sp>
        <p:nvSpPr>
          <p:cNvPr id="204" name="Data for network inference"/>
          <p:cNvSpPr txBox="1"/>
          <p:nvPr>
            <p:ph type="title"/>
          </p:nvPr>
        </p:nvSpPr>
        <p:spPr>
          <a:xfrm>
            <a:off x="1206500" y="776054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Data for network inference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ypical data example: sexual surveys"/>
          <p:cNvSpPr txBox="1"/>
          <p:nvPr>
            <p:ph type="title"/>
          </p:nvPr>
        </p:nvSpPr>
        <p:spPr>
          <a:xfrm>
            <a:off x="1379897" y="841078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Typical data example: sexual surveys</a:t>
            </a:r>
          </a:p>
        </p:txBody>
      </p:sp>
      <p:sp>
        <p:nvSpPr>
          <p:cNvPr id="207" name="Cross-sectional or longitudinal surveys on sexual behaviour and risk (“how many sexual partners did you have in the past 6 months?”)…"/>
          <p:cNvSpPr txBox="1"/>
          <p:nvPr>
            <p:ph type="body" idx="1"/>
          </p:nvPr>
        </p:nvSpPr>
        <p:spPr>
          <a:xfrm>
            <a:off x="454669" y="2752952"/>
            <a:ext cx="22354362" cy="10206731"/>
          </a:xfrm>
          <a:prstGeom prst="rect">
            <a:avLst/>
          </a:prstGeom>
        </p:spPr>
        <p:txBody>
          <a:bodyPr/>
          <a:lstStyle/>
          <a:p>
            <a:pPr/>
            <a:r>
              <a:t>Cross-sectional or longitudinal surveys on sexual behaviour and risk (“how many sexual partners did you have in the past 6 months?”)</a:t>
            </a:r>
          </a:p>
          <a:p>
            <a:pPr/>
          </a:p>
          <a:p>
            <a:pPr/>
            <a:r>
              <a:t>Typically “ego-centric data” , individuals report </a:t>
            </a:r>
            <a:r>
              <a:rPr i="1"/>
              <a:t>their</a:t>
            </a:r>
            <a:r>
              <a:t> contacts, not the full network</a:t>
            </a:r>
          </a:p>
          <a:p>
            <a:pPr/>
          </a:p>
          <a:p>
            <a:pPr/>
            <a:r>
              <a:t>Many biases: recall bias, social desireability bias…</a:t>
            </a:r>
          </a:p>
          <a:p>
            <a:pPr/>
          </a:p>
          <a:p>
            <a:pPr/>
            <a:r>
              <a:t>Not everyone is equally likely to respond to such surveys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pidemics on Networks"/>
          <p:cNvSpPr txBox="1"/>
          <p:nvPr>
            <p:ph type="ctrTitle"/>
          </p:nvPr>
        </p:nvSpPr>
        <p:spPr>
          <a:xfrm>
            <a:off x="5767762" y="5426564"/>
            <a:ext cx="12848476" cy="1905001"/>
          </a:xfrm>
          <a:prstGeom prst="rect">
            <a:avLst/>
          </a:prstGeom>
        </p:spPr>
        <p:txBody>
          <a:bodyPr/>
          <a:lstStyle>
            <a:lvl1pPr defTabSz="1926287">
              <a:defRPr spc="-183" sz="9164"/>
            </a:lvl1pPr>
          </a:lstStyle>
          <a:p>
            <a:pPr/>
            <a:r>
              <a:t>Epidemics on Networks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Epi-games"/>
          <p:cNvSpPr txBox="1"/>
          <p:nvPr>
            <p:ph type="title"/>
          </p:nvPr>
        </p:nvSpPr>
        <p:spPr>
          <a:xfrm>
            <a:off x="1206500" y="526888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spc="-145" sz="7300"/>
            </a:lvl1pPr>
          </a:lstStyle>
          <a:p>
            <a:pPr/>
            <a:r>
              <a:t>Epi-games</a:t>
            </a:r>
          </a:p>
        </p:txBody>
      </p:sp>
      <p:sp>
        <p:nvSpPr>
          <p:cNvPr id="212" name="Collect data…"/>
          <p:cNvSpPr txBox="1"/>
          <p:nvPr>
            <p:ph type="body" idx="1"/>
          </p:nvPr>
        </p:nvSpPr>
        <p:spPr>
          <a:xfrm>
            <a:off x="1206500" y="1747631"/>
            <a:ext cx="21971000" cy="11846550"/>
          </a:xfrm>
          <a:prstGeom prst="rect">
            <a:avLst/>
          </a:prstGeom>
        </p:spPr>
        <p:txBody>
          <a:bodyPr/>
          <a:lstStyle/>
          <a:p>
            <a:pPr marL="475487" indent="-475487" defTabSz="1901904">
              <a:spcBef>
                <a:spcPts val="3500"/>
              </a:spcBef>
              <a:defRPr b="1" sz="3041"/>
            </a:pPr>
            <a:r>
              <a:t>Collect data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Phones scan nearby devices via Bluetooth (BLE)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Each detection → (u,v,t)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Infections propagate along observed contacts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Process events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Threshold signal strength to infer close contact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Clean raw detections into contact events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Build temporal network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Nodes = participants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Edges = proximity contacts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Network evolves over time → G(t)</a:t>
            </a:r>
          </a:p>
          <a:p>
            <a:pPr marL="475487" indent="-475487" defTabSz="1901904">
              <a:spcBef>
                <a:spcPts val="3500"/>
              </a:spcBef>
              <a:defRPr b="1" sz="3041"/>
            </a:pPr>
            <a:r>
              <a:t>Aggregate &amp; analyze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Time-bin events (e.g. 5 min)</a:t>
            </a:r>
          </a:p>
          <a:p>
            <a:pPr lvl="1" marL="950975" indent="-475487" defTabSz="1901904">
              <a:spcBef>
                <a:spcPts val="3500"/>
              </a:spcBef>
              <a:defRPr sz="3041"/>
            </a:pPr>
            <a:r>
              <a:t>Produce static and temporal graphs</a:t>
            </a:r>
          </a:p>
        </p:txBody>
      </p:sp>
      <p:pic>
        <p:nvPicPr>
          <p:cNvPr id="213" name="graph_animation.mp4" descr="graph_animation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10528448" y="2439623"/>
            <a:ext cx="14138805" cy="88367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96" fill="hold"/>
                                        <p:tgtEl>
                                          <p:spTgt spid="2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213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1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1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lassic SIR model interpretation"/>
          <p:cNvSpPr txBox="1"/>
          <p:nvPr>
            <p:ph type="title"/>
          </p:nvPr>
        </p:nvSpPr>
        <p:spPr>
          <a:xfrm>
            <a:off x="1206500" y="815889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Classic SIR model interpretation</a:t>
            </a:r>
          </a:p>
        </p:txBody>
      </p:sp>
      <p:sp>
        <p:nvSpPr>
          <p:cNvPr id="216" name="Equation"/>
          <p:cNvSpPr txBox="1"/>
          <p:nvPr/>
        </p:nvSpPr>
        <p:spPr>
          <a:xfrm>
            <a:off x="2275171" y="4088026"/>
            <a:ext cx="4423641" cy="183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num>
                    <m:den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r>
                    <a:rPr xmlns:a="http://schemas.openxmlformats.org/drawingml/2006/main" sz="6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6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6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r>
                    <a:rPr xmlns:a="http://schemas.openxmlformats.org/drawingml/2006/main" sz="6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6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</m:oMath>
              </m:oMathPara>
            </a14:m>
            <a:endParaRPr sz="6700"/>
          </a:p>
        </p:txBody>
      </p:sp>
      <p:sp>
        <p:nvSpPr>
          <p:cNvPr id="217" name="Equation"/>
          <p:cNvSpPr txBox="1"/>
          <p:nvPr/>
        </p:nvSpPr>
        <p:spPr>
          <a:xfrm>
            <a:off x="2324754" y="7195261"/>
            <a:ext cx="4798201" cy="17226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num>
                    <m:den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6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6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</m:oMath>
              </m:oMathPara>
            </a14:m>
            <a:endParaRPr sz="6300"/>
          </a:p>
        </p:txBody>
      </p:sp>
      <p:sp>
        <p:nvSpPr>
          <p:cNvPr id="218" name="Equation"/>
          <p:cNvSpPr txBox="1"/>
          <p:nvPr/>
        </p:nvSpPr>
        <p:spPr>
          <a:xfrm>
            <a:off x="2262921" y="10193124"/>
            <a:ext cx="2932403" cy="18576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6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num>
                    <m:den>
                      <m:r>
                        <a:rPr xmlns:a="http://schemas.openxmlformats.org/drawingml/2006/main" sz="6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6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r>
                    <a:rPr xmlns:a="http://schemas.openxmlformats.org/drawingml/2006/main" sz="6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6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6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</m:oMath>
              </m:oMathPara>
            </a14:m>
            <a:endParaRPr sz="6800"/>
          </a:p>
        </p:txBody>
      </p:sp>
      <p:sp>
        <p:nvSpPr>
          <p:cNvPr id="219" name="Interpretation: the term   represents infectious contact rates between susceptible and infected…"/>
          <p:cNvSpPr txBox="1"/>
          <p:nvPr>
            <p:ph type="body" idx="1"/>
          </p:nvPr>
        </p:nvSpPr>
        <p:spPr>
          <a:xfrm>
            <a:off x="7796549" y="3053177"/>
            <a:ext cx="14668793" cy="9538662"/>
          </a:xfrm>
          <a:prstGeom prst="rect">
            <a:avLst/>
          </a:prstGeom>
        </p:spPr>
        <p:txBody>
          <a:bodyPr/>
          <a:lstStyle/>
          <a:p>
            <a:pPr/>
            <a:r>
              <a:t>Interpretation: the term </a:t>
            </a:r>
            <a14:m>
              <m:oMath>
                <m:f>
                  <m:f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num>
                  <m:den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den>
                </m:f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</m:oMath>
            </a14:m>
            <a:r>
              <a:t> represents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infectious</a:t>
            </a:r>
            <a:r>
              <a:t>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contact rates</a:t>
            </a:r>
            <a:r>
              <a:t> between susceptible and infected</a:t>
            </a:r>
          </a:p>
          <a:p>
            <a:pPr/>
          </a:p>
          <a:p>
            <a:pPr/>
            <a:r>
              <a:t>The term </a:t>
            </a:r>
            <a14:m>
              <m:oMath>
                <m:f>
                  <m:f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num>
                  <m:den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den>
                </m:f>
              </m:oMath>
            </a14:m>
            <a:r>
              <a:t> is the average per capita contact rate </a:t>
            </a:r>
            <a:r>
              <a:rPr b="1"/>
              <a:t>times</a:t>
            </a:r>
            <a:r>
              <a:t> the average infectivity</a:t>
            </a:r>
          </a:p>
          <a:p>
            <a:pPr/>
          </a:p>
          <a:p>
            <a:pPr/>
            <a:r>
              <a:t>This term is somewhat </a:t>
            </a:r>
            <a:r>
              <a:rPr b="1"/>
              <a:t>overloaded</a:t>
            </a:r>
            <a:r>
              <a:t> with meaning: “well-mixed” population </a:t>
            </a:r>
            <a:r>
              <a:rPr strike="sngStrike"/>
              <a:t>hypothesis</a:t>
            </a:r>
            <a:r>
              <a:t> assumption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ving to stochastic mode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Moving to stochastic models</a:t>
            </a:r>
          </a:p>
        </p:txBody>
      </p:sp>
      <p:sp>
        <p:nvSpPr>
          <p:cNvPr id="222" name="Equation"/>
          <p:cNvSpPr txBox="1"/>
          <p:nvPr/>
        </p:nvSpPr>
        <p:spPr>
          <a:xfrm>
            <a:off x="1388338" y="3920724"/>
            <a:ext cx="19312430" cy="13899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f>
                    <m:fPr>
                      <m:ctrlP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5100"/>
          </a:p>
        </p:txBody>
      </p:sp>
      <p:sp>
        <p:nvSpPr>
          <p:cNvPr id="223" name="Equation"/>
          <p:cNvSpPr txBox="1"/>
          <p:nvPr/>
        </p:nvSpPr>
        <p:spPr>
          <a:xfrm>
            <a:off x="1266575" y="7265856"/>
            <a:ext cx="19151043" cy="86445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limLow>
                    <m:e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limLow>
                    <m:e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5400"/>
          </a:p>
        </p:txBody>
      </p:sp>
      <p:sp>
        <p:nvSpPr>
          <p:cNvPr id="224" name="Equation"/>
          <p:cNvSpPr txBox="1"/>
          <p:nvPr/>
        </p:nvSpPr>
        <p:spPr>
          <a:xfrm>
            <a:off x="1405019" y="9826503"/>
            <a:ext cx="20848816" cy="1562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limLow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limLow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f>
                        <m:fPr>
                          <m:ctrlP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xmlns:a="http://schemas.openxmlformats.org/drawingml/2006/main"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d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5000"/>
          </a:p>
        </p:txBody>
      </p:sp>
      <p:sp>
        <p:nvSpPr>
          <p:cNvPr id="225" name="Infection"/>
          <p:cNvSpPr txBox="1"/>
          <p:nvPr/>
        </p:nvSpPr>
        <p:spPr>
          <a:xfrm>
            <a:off x="7402314" y="3130638"/>
            <a:ext cx="2664257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Infection</a:t>
            </a:r>
          </a:p>
        </p:txBody>
      </p:sp>
      <p:sp>
        <p:nvSpPr>
          <p:cNvPr id="226" name="Recovery"/>
          <p:cNvSpPr txBox="1"/>
          <p:nvPr/>
        </p:nvSpPr>
        <p:spPr>
          <a:xfrm>
            <a:off x="7310873" y="6181728"/>
            <a:ext cx="2847138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Recovery</a:t>
            </a:r>
          </a:p>
        </p:txBody>
      </p:sp>
      <p:sp>
        <p:nvSpPr>
          <p:cNvPr id="227" name="Nothing happens"/>
          <p:cNvSpPr txBox="1"/>
          <p:nvPr/>
        </p:nvSpPr>
        <p:spPr>
          <a:xfrm>
            <a:off x="6716514" y="9057076"/>
            <a:ext cx="507034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Nothing happens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he problem with “reality”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 with “reality”</a:t>
            </a:r>
          </a:p>
        </p:txBody>
      </p:sp>
      <p:sp>
        <p:nvSpPr>
          <p:cNvPr id="230" name="Equation"/>
          <p:cNvSpPr txBox="1"/>
          <p:nvPr/>
        </p:nvSpPr>
        <p:spPr>
          <a:xfrm>
            <a:off x="1454241" y="3345868"/>
            <a:ext cx="19312430" cy="13899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limLow>
                    <m:e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li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¯</m:t>
                      </m:r>
                    </m:lim>
                  </m:limLow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f>
                    <m:fPr>
                      <m:ctrlP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5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5100"/>
          </a:p>
        </p:txBody>
      </p:sp>
      <p:sp>
        <p:nvSpPr>
          <p:cNvPr id="231" name="Infectious contact rate!"/>
          <p:cNvSpPr txBox="1"/>
          <p:nvPr/>
        </p:nvSpPr>
        <p:spPr>
          <a:xfrm>
            <a:off x="16430984" y="5019849"/>
            <a:ext cx="6864402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Infectious contact rate!</a:t>
            </a:r>
          </a:p>
        </p:txBody>
      </p:sp>
      <p:pic>
        <p:nvPicPr>
          <p:cNvPr id="23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9385" y="8212952"/>
            <a:ext cx="5003916" cy="51369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31694" y="8561762"/>
            <a:ext cx="5787787" cy="4516229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What is the “infectious contact rate” here?"/>
          <p:cNvSpPr txBox="1"/>
          <p:nvPr/>
        </p:nvSpPr>
        <p:spPr>
          <a:xfrm>
            <a:off x="6727744" y="6689744"/>
            <a:ext cx="1163147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the “infectious contact rate” here?</a:t>
            </a:r>
          </a:p>
        </p:txBody>
      </p:sp>
      <p:pic>
        <p:nvPicPr>
          <p:cNvPr id="23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15142519" y="8523294"/>
            <a:ext cx="6336827" cy="494464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Line"/>
          <p:cNvSpPr/>
          <p:nvPr/>
        </p:nvSpPr>
        <p:spPr>
          <a:xfrm flipV="1">
            <a:off x="14456718" y="10631941"/>
            <a:ext cx="854599" cy="37587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illespie algorithm to simulate epidemics on networ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054">
              <a:defRPr spc="-137" sz="6885"/>
            </a:lvl1pPr>
          </a:lstStyle>
          <a:p>
            <a:pPr/>
            <a:r>
              <a:t>Gillespie algorithm to simulate epidemics on networks</a:t>
            </a:r>
          </a:p>
        </p:txBody>
      </p:sp>
      <p:sp>
        <p:nvSpPr>
          <p:cNvPr id="239" name="Transmission occurs across edges…"/>
          <p:cNvSpPr txBox="1"/>
          <p:nvPr>
            <p:ph type="body" idx="1"/>
          </p:nvPr>
        </p:nvSpPr>
        <p:spPr>
          <a:xfrm>
            <a:off x="454669" y="2752952"/>
            <a:ext cx="22354362" cy="10206731"/>
          </a:xfrm>
          <a:prstGeom prst="rect">
            <a:avLst/>
          </a:prstGeom>
        </p:spPr>
        <p:txBody>
          <a:bodyPr/>
          <a:lstStyle/>
          <a:p>
            <a:pPr/>
            <a:r>
              <a:t>Transmission occurs across edges</a:t>
            </a:r>
          </a:p>
          <a:p>
            <a:pPr/>
          </a:p>
          <a:p>
            <a:pPr/>
            <a:r>
              <a:t>At each time-step all the infected nodes transmit to their susceptible neighbours with probability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t> for each neighbour</a:t>
            </a:r>
          </a:p>
          <a:p>
            <a:pPr/>
          </a:p>
          <a:p>
            <a:pPr/>
            <a:r>
              <a:t>Each infected node recovers with probability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seudo co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Pseudo code</a:t>
            </a:r>
          </a:p>
        </p:txBody>
      </p:sp>
      <p:sp>
        <p:nvSpPr>
          <p:cNvPr id="242" name="t ← 0…"/>
          <p:cNvSpPr txBox="1"/>
          <p:nvPr/>
        </p:nvSpPr>
        <p:spPr>
          <a:xfrm>
            <a:off x="10902315" y="296753"/>
            <a:ext cx="2825878" cy="2198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t ← 0</a:t>
            </a:r>
          </a:p>
          <a:p>
            <a:pPr>
              <a:defRPr sz="2200"/>
            </a:pPr>
            <a:r>
              <a:t>Set node states X_i(0)</a:t>
            </a:r>
          </a:p>
        </p:txBody>
      </p:sp>
      <p:sp>
        <p:nvSpPr>
          <p:cNvPr id="243" name="while there exists i with X_i(t) = I:…"/>
          <p:cNvSpPr txBox="1"/>
          <p:nvPr/>
        </p:nvSpPr>
        <p:spPr>
          <a:xfrm>
            <a:off x="10880123" y="1731829"/>
            <a:ext cx="16658173" cy="1276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200"/>
            </a:pPr>
            <a:r>
              <a:t>while there exists i with X_i(t) = I: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    for each node i with X_i(t) = S:</a:t>
            </a:r>
          </a:p>
          <a:p>
            <a:pPr>
              <a:defRPr sz="2200"/>
            </a:pPr>
            <a:r>
              <a:t>        k ← number of infected neighbours of i at time t</a:t>
            </a:r>
          </a:p>
          <a:p>
            <a:pPr>
              <a:defRPr sz="2200"/>
            </a:pPr>
            <a:r>
              <a:t>        p_infect ← 1 - (1 - β)^k</a:t>
            </a:r>
          </a:p>
          <a:p>
            <a:pPr>
              <a:defRPr sz="2200"/>
            </a:pPr>
            <a:r>
              <a:t>        with probability p_infect:</a:t>
            </a:r>
          </a:p>
          <a:p>
            <a:pPr>
              <a:defRPr sz="2200"/>
            </a:pPr>
            <a:r>
              <a:t>            mark i to become I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    for each node i with X_i(t) = I:</a:t>
            </a:r>
          </a:p>
          <a:p>
            <a:pPr>
              <a:defRPr sz="2200"/>
            </a:pPr>
            <a:r>
              <a:t>        with probability μ:</a:t>
            </a:r>
          </a:p>
          <a:p>
            <a:pPr>
              <a:defRPr sz="2200"/>
            </a:pPr>
            <a:r>
              <a:t>            mark i to become R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    update all marked state changes simultaneously</a:t>
            </a:r>
          </a:p>
          <a:p>
            <a:pPr>
              <a:defRPr sz="2200"/>
            </a:pPr>
            <a:r>
              <a:t>    t ← t + 1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